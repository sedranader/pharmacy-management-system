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9" r:id="rId8"/>
    <p:sldId id="270" r:id="rId9"/>
    <p:sldId id="263" r:id="rId10"/>
    <p:sldId id="264" r:id="rId11"/>
    <p:sldId id="265" r:id="rId12"/>
    <p:sldId id="266" r:id="rId13"/>
    <p:sldId id="267" r:id="rId14"/>
    <p:sldId id="268"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p:scale>
          <a:sx n="42" d="100"/>
          <a:sy n="42" d="100"/>
        </p:scale>
        <p:origin x="293" y="11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10/29/2026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10/29/2026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10/29/2026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10/29/2026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10/29/2026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1"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r" defTabSz="914400" rtl="1"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58162-3A75-41D3-9727-C05FC2039EF1}"/>
              </a:ext>
            </a:extLst>
          </p:cNvPr>
          <p:cNvSpPr>
            <a:spLocks noGrp="1"/>
          </p:cNvSpPr>
          <p:nvPr>
            <p:ph type="ctrTitle"/>
          </p:nvPr>
        </p:nvSpPr>
        <p:spPr>
          <a:xfrm>
            <a:off x="1915385" y="2379887"/>
            <a:ext cx="8361229" cy="2098226"/>
          </a:xfrm>
        </p:spPr>
        <p:txBody>
          <a:bodyPr/>
          <a:lstStyle/>
          <a:p>
            <a:r>
              <a:rPr lang="en-US" sz="6000" dirty="0"/>
              <a:t>Pharmacy Management System</a:t>
            </a:r>
            <a:endParaRPr lang="ar-KW" sz="6000" dirty="0"/>
          </a:p>
        </p:txBody>
      </p:sp>
    </p:spTree>
    <p:extLst>
      <p:ext uri="{BB962C8B-B14F-4D97-AF65-F5344CB8AC3E}">
        <p14:creationId xmlns:p14="http://schemas.microsoft.com/office/powerpoint/2010/main" val="2425470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E9228-E8F7-4B9C-BE67-BDEEBE6BFF41}"/>
              </a:ext>
            </a:extLst>
          </p:cNvPr>
          <p:cNvSpPr>
            <a:spLocks noGrp="1"/>
          </p:cNvSpPr>
          <p:nvPr>
            <p:ph type="title"/>
          </p:nvPr>
        </p:nvSpPr>
        <p:spPr/>
        <p:txBody>
          <a:bodyPr/>
          <a:lstStyle/>
          <a:p>
            <a:r>
              <a:rPr lang="en-US" dirty="0"/>
              <a:t>Importance of the Project</a:t>
            </a:r>
            <a:endParaRPr lang="ar-KW" dirty="0"/>
          </a:p>
        </p:txBody>
      </p:sp>
      <p:sp>
        <p:nvSpPr>
          <p:cNvPr id="3" name="Content Placeholder 2">
            <a:extLst>
              <a:ext uri="{FF2B5EF4-FFF2-40B4-BE49-F238E27FC236}">
                <a16:creationId xmlns:a16="http://schemas.microsoft.com/office/drawing/2014/main" id="{A9A7685A-7B0C-4B9B-9398-A678542D3C00}"/>
              </a:ext>
            </a:extLst>
          </p:cNvPr>
          <p:cNvSpPr>
            <a:spLocks noGrp="1"/>
          </p:cNvSpPr>
          <p:nvPr>
            <p:ph idx="1"/>
          </p:nvPr>
        </p:nvSpPr>
        <p:spPr>
          <a:xfrm>
            <a:off x="1371600" y="2325757"/>
            <a:ext cx="9601200" cy="3581400"/>
          </a:xfrm>
        </p:spPr>
        <p:txBody>
          <a:bodyPr>
            <a:normAutofit/>
          </a:bodyPr>
          <a:lstStyle/>
          <a:p>
            <a:pPr algn="l"/>
            <a:r>
              <a:rPr lang="en-US" dirty="0"/>
              <a:t>The importance of the Pharmacy Management System lies in improving workflow efficiency within the pharmacy through the automation of daily operations. The system reduces human errors in data entry, medication dispensing, and inventory management. It enables accurate inventory control by monitoring expiration dates, stock quantities, and automated alerts. In addition, it enhances customer experience by providing faster service and reliable information. The system generates analytical reports that support effective decision-making, strengthens data security through Role-Based Access Control (RBAC) and Audit Logs, and supports future expansion and integration between multiple pharmacy branches. Furthermore, it ensures compliance with pharmaceutical regulations, such as preventing the sale of expired medications, and helps increase profitability through better management of purchasing and sales processes.</a:t>
            </a:r>
            <a:endParaRPr lang="ar-KW" dirty="0"/>
          </a:p>
        </p:txBody>
      </p:sp>
    </p:spTree>
    <p:extLst>
      <p:ext uri="{BB962C8B-B14F-4D97-AF65-F5344CB8AC3E}">
        <p14:creationId xmlns:p14="http://schemas.microsoft.com/office/powerpoint/2010/main" val="1590538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DC23A-1A92-4D15-8060-0A35A93D8E41}"/>
              </a:ext>
            </a:extLst>
          </p:cNvPr>
          <p:cNvSpPr>
            <a:spLocks noGrp="1"/>
          </p:cNvSpPr>
          <p:nvPr>
            <p:ph type="title"/>
          </p:nvPr>
        </p:nvSpPr>
        <p:spPr/>
        <p:txBody>
          <a:bodyPr/>
          <a:lstStyle/>
          <a:p>
            <a:r>
              <a:rPr lang="en-US" dirty="0"/>
              <a:t>MAIN OBJECTIVE OF PROJECT</a:t>
            </a:r>
            <a:endParaRPr lang="ar-KW" dirty="0"/>
          </a:p>
        </p:txBody>
      </p:sp>
      <p:sp>
        <p:nvSpPr>
          <p:cNvPr id="3" name="Content Placeholder 2">
            <a:extLst>
              <a:ext uri="{FF2B5EF4-FFF2-40B4-BE49-F238E27FC236}">
                <a16:creationId xmlns:a16="http://schemas.microsoft.com/office/drawing/2014/main" id="{6D682D60-7EBA-4A1F-8A2B-43FBE7C0FA17}"/>
              </a:ext>
            </a:extLst>
          </p:cNvPr>
          <p:cNvSpPr>
            <a:spLocks noGrp="1"/>
          </p:cNvSpPr>
          <p:nvPr>
            <p:ph idx="1"/>
          </p:nvPr>
        </p:nvSpPr>
        <p:spPr/>
        <p:txBody>
          <a:bodyPr/>
          <a:lstStyle/>
          <a:p>
            <a:pPr algn="l"/>
            <a:r>
              <a:rPr lang="en-US" dirty="0"/>
              <a:t>The main objective of the Pharmacy Management System is to develop a comprehensive and integrated solution for managing pharmacy operations efficiently. The system automates daily tasks such as sales, purchasing, inventory management, and reporting, thereby improving operational efficiency and reducing human errors. It supports decision-making through intelligent reporting and data analysis features. Additionally, the system provides effective management of medications, suppliers, customers, pharmacists, invoices, and inventory records. To ensure data security and privacy, the system incorporates Role-Based Access Control (RBAC) and encryption mechanisms. Furthermore, it offers a user-friendly graphical interface developed using PyQt5, making the system easy to use and manage.</a:t>
            </a:r>
            <a:endParaRPr lang="ar-KW" dirty="0"/>
          </a:p>
        </p:txBody>
      </p:sp>
    </p:spTree>
    <p:extLst>
      <p:ext uri="{BB962C8B-B14F-4D97-AF65-F5344CB8AC3E}">
        <p14:creationId xmlns:p14="http://schemas.microsoft.com/office/powerpoint/2010/main" val="2208138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9C22-9D2B-4079-9796-5DB85BAC280D}"/>
              </a:ext>
            </a:extLst>
          </p:cNvPr>
          <p:cNvSpPr>
            <a:spLocks noGrp="1"/>
          </p:cNvSpPr>
          <p:nvPr>
            <p:ph type="title"/>
          </p:nvPr>
        </p:nvSpPr>
        <p:spPr/>
        <p:txBody>
          <a:bodyPr/>
          <a:lstStyle/>
          <a:p>
            <a:r>
              <a:rPr lang="en-US" dirty="0"/>
              <a:t>Problems Solved by the Project</a:t>
            </a:r>
            <a:endParaRPr lang="ar-KW" dirty="0"/>
          </a:p>
        </p:txBody>
      </p:sp>
      <p:sp>
        <p:nvSpPr>
          <p:cNvPr id="3" name="Content Placeholder 2">
            <a:extLst>
              <a:ext uri="{FF2B5EF4-FFF2-40B4-BE49-F238E27FC236}">
                <a16:creationId xmlns:a16="http://schemas.microsoft.com/office/drawing/2014/main" id="{1EBFA13C-B956-487A-9CFD-4FB6874223BC}"/>
              </a:ext>
            </a:extLst>
          </p:cNvPr>
          <p:cNvSpPr>
            <a:spLocks noGrp="1"/>
          </p:cNvSpPr>
          <p:nvPr>
            <p:ph idx="1"/>
          </p:nvPr>
        </p:nvSpPr>
        <p:spPr/>
        <p:txBody>
          <a:bodyPr/>
          <a:lstStyle/>
          <a:p>
            <a:pPr algn="l"/>
            <a:r>
              <a:rPr lang="en-US" dirty="0"/>
              <a:t>Before implementing the Pharmacy Management System, pharmacies face several operational challenges. These include difficulties in accurately tracking inventory, such as expiration dates, stock quantities, and hazardous materials. Human errors frequently occur during sales transactions and inventory management processes. In addition, there is often a lack of clear reporting for sales and purchasing activities, making decision-making more difficult. Employee monitoring is also limited, particularly in managing work shifts, attendance records, and user permissions. Many pharmacies lack automated alert systems for hazardous drugs and drug interactions, as well as mechanisms for suggesting therapeutic alternatives when medications are unavailable. Furthermore, supplier and invoice management processes are often not integrated into a single system, and the absence of Audit Logs makes it difficult to monitor system activities and ensure accountability.</a:t>
            </a:r>
            <a:endParaRPr lang="ar-KW" dirty="0"/>
          </a:p>
        </p:txBody>
      </p:sp>
    </p:spTree>
    <p:extLst>
      <p:ext uri="{BB962C8B-B14F-4D97-AF65-F5344CB8AC3E}">
        <p14:creationId xmlns:p14="http://schemas.microsoft.com/office/powerpoint/2010/main" val="4163163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58A3A-5D5C-4FE0-8D10-956D78A4E61D}"/>
              </a:ext>
            </a:extLst>
          </p:cNvPr>
          <p:cNvSpPr>
            <a:spLocks noGrp="1"/>
          </p:cNvSpPr>
          <p:nvPr>
            <p:ph type="title"/>
          </p:nvPr>
        </p:nvSpPr>
        <p:spPr/>
        <p:txBody>
          <a:bodyPr/>
          <a:lstStyle/>
          <a:p>
            <a:r>
              <a:rPr lang="en-US" dirty="0"/>
              <a:t>METHODOLOGY Used in the project </a:t>
            </a:r>
            <a:endParaRPr lang="ar-KW" dirty="0"/>
          </a:p>
        </p:txBody>
      </p:sp>
      <p:pic>
        <p:nvPicPr>
          <p:cNvPr id="5" name="Content Placeholder 4">
            <a:extLst>
              <a:ext uri="{FF2B5EF4-FFF2-40B4-BE49-F238E27FC236}">
                <a16:creationId xmlns:a16="http://schemas.microsoft.com/office/drawing/2014/main" id="{09C02F67-939D-4C89-A860-CCF9A8903E48}"/>
              </a:ext>
            </a:extLst>
          </p:cNvPr>
          <p:cNvPicPr>
            <a:picLocks noGrp="1" noChangeAspect="1"/>
          </p:cNvPicPr>
          <p:nvPr>
            <p:ph idx="1"/>
          </p:nvPr>
        </p:nvPicPr>
        <p:blipFill>
          <a:blip r:embed="rId2"/>
          <a:stretch>
            <a:fillRect/>
          </a:stretch>
        </p:blipFill>
        <p:spPr>
          <a:xfrm>
            <a:off x="1470426" y="1714501"/>
            <a:ext cx="9032486" cy="5143499"/>
          </a:xfrm>
        </p:spPr>
      </p:pic>
    </p:spTree>
    <p:extLst>
      <p:ext uri="{BB962C8B-B14F-4D97-AF65-F5344CB8AC3E}">
        <p14:creationId xmlns:p14="http://schemas.microsoft.com/office/powerpoint/2010/main" val="481914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CC0C-5675-4AB0-A0D7-5803340840E4}"/>
              </a:ext>
            </a:extLst>
          </p:cNvPr>
          <p:cNvSpPr>
            <a:spLocks noGrp="1"/>
          </p:cNvSpPr>
          <p:nvPr>
            <p:ph type="title"/>
          </p:nvPr>
        </p:nvSpPr>
        <p:spPr>
          <a:xfrm>
            <a:off x="1404730" y="155713"/>
            <a:ext cx="9417418" cy="1364146"/>
          </a:xfrm>
        </p:spPr>
        <p:txBody>
          <a:bodyPr>
            <a:normAutofit/>
          </a:bodyPr>
          <a:lstStyle/>
          <a:p>
            <a:r>
              <a:rPr lang="en-US" dirty="0"/>
              <a:t>Research Papers</a:t>
            </a:r>
            <a:endParaRPr lang="ar-KW" dirty="0"/>
          </a:p>
        </p:txBody>
      </p:sp>
      <p:pic>
        <p:nvPicPr>
          <p:cNvPr id="9" name="Content Placeholder 8">
            <a:extLst>
              <a:ext uri="{FF2B5EF4-FFF2-40B4-BE49-F238E27FC236}">
                <a16:creationId xmlns:a16="http://schemas.microsoft.com/office/drawing/2014/main" id="{7180470A-24C7-45B9-B18D-0B1AEE2B0FB7}"/>
              </a:ext>
            </a:extLst>
          </p:cNvPr>
          <p:cNvPicPr>
            <a:picLocks noGrp="1" noChangeAspect="1"/>
          </p:cNvPicPr>
          <p:nvPr>
            <p:ph idx="1"/>
          </p:nvPr>
        </p:nvPicPr>
        <p:blipFill>
          <a:blip r:embed="rId2"/>
          <a:stretch>
            <a:fillRect/>
          </a:stretch>
        </p:blipFill>
        <p:spPr>
          <a:xfrm>
            <a:off x="821635" y="1713176"/>
            <a:ext cx="11086915" cy="4989112"/>
          </a:xfrm>
        </p:spPr>
      </p:pic>
    </p:spTree>
    <p:extLst>
      <p:ext uri="{BB962C8B-B14F-4D97-AF65-F5344CB8AC3E}">
        <p14:creationId xmlns:p14="http://schemas.microsoft.com/office/powerpoint/2010/main" val="1154227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1B1A-E7A0-4FB2-8C1D-66253E71ED6F}"/>
              </a:ext>
            </a:extLst>
          </p:cNvPr>
          <p:cNvSpPr>
            <a:spLocks noGrp="1"/>
          </p:cNvSpPr>
          <p:nvPr>
            <p:ph type="title"/>
          </p:nvPr>
        </p:nvSpPr>
        <p:spPr>
          <a:xfrm>
            <a:off x="1371600" y="272716"/>
            <a:ext cx="9601200" cy="942473"/>
          </a:xfrm>
        </p:spPr>
        <p:txBody>
          <a:bodyPr/>
          <a:lstStyle/>
          <a:p>
            <a:r>
              <a:rPr lang="en-US" dirty="0"/>
              <a:t>GANTT CHART</a:t>
            </a:r>
            <a:endParaRPr lang="ar-KW" dirty="0"/>
          </a:p>
        </p:txBody>
      </p:sp>
      <p:pic>
        <p:nvPicPr>
          <p:cNvPr id="7" name="Content Placeholder 6">
            <a:extLst>
              <a:ext uri="{FF2B5EF4-FFF2-40B4-BE49-F238E27FC236}">
                <a16:creationId xmlns:a16="http://schemas.microsoft.com/office/drawing/2014/main" id="{EB5CB3E6-9A12-4682-8AA0-BF14386BB587}"/>
              </a:ext>
            </a:extLst>
          </p:cNvPr>
          <p:cNvPicPr>
            <a:picLocks noGrp="1" noChangeAspect="1"/>
          </p:cNvPicPr>
          <p:nvPr>
            <p:ph idx="1"/>
          </p:nvPr>
        </p:nvPicPr>
        <p:blipFill rotWithShape="1">
          <a:blip r:embed="rId2"/>
          <a:srcRect t="13366" b="13936"/>
          <a:stretch/>
        </p:blipFill>
        <p:spPr>
          <a:xfrm>
            <a:off x="1171075" y="1215188"/>
            <a:ext cx="10507578" cy="5506453"/>
          </a:xfrm>
        </p:spPr>
      </p:pic>
    </p:spTree>
    <p:extLst>
      <p:ext uri="{BB962C8B-B14F-4D97-AF65-F5344CB8AC3E}">
        <p14:creationId xmlns:p14="http://schemas.microsoft.com/office/powerpoint/2010/main" val="1153020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1C00-AFB7-461F-8E8B-8CAA8C1A7649}"/>
              </a:ext>
            </a:extLst>
          </p:cNvPr>
          <p:cNvSpPr>
            <a:spLocks noGrp="1"/>
          </p:cNvSpPr>
          <p:nvPr>
            <p:ph type="title"/>
          </p:nvPr>
        </p:nvSpPr>
        <p:spPr>
          <a:xfrm>
            <a:off x="3272588" y="685800"/>
            <a:ext cx="7700211" cy="1485900"/>
          </a:xfrm>
        </p:spPr>
        <p:txBody>
          <a:bodyPr/>
          <a:lstStyle/>
          <a:p>
            <a:endParaRPr lang="ar-KW" dirty="0"/>
          </a:p>
        </p:txBody>
      </p:sp>
      <p:pic>
        <p:nvPicPr>
          <p:cNvPr id="5" name="Content Placeholder 4">
            <a:extLst>
              <a:ext uri="{FF2B5EF4-FFF2-40B4-BE49-F238E27FC236}">
                <a16:creationId xmlns:a16="http://schemas.microsoft.com/office/drawing/2014/main" id="{1537506E-FEDE-452F-90C6-4B50A687B214}"/>
              </a:ext>
            </a:extLst>
          </p:cNvPr>
          <p:cNvPicPr>
            <a:picLocks noGrp="1" noChangeAspect="1"/>
          </p:cNvPicPr>
          <p:nvPr>
            <p:ph idx="1"/>
          </p:nvPr>
        </p:nvPicPr>
        <p:blipFill>
          <a:blip r:embed="rId2"/>
          <a:stretch>
            <a:fillRect/>
          </a:stretch>
        </p:blipFill>
        <p:spPr>
          <a:xfrm>
            <a:off x="1155032" y="256673"/>
            <a:ext cx="10571747" cy="6368715"/>
          </a:xfrm>
        </p:spPr>
      </p:pic>
    </p:spTree>
    <p:extLst>
      <p:ext uri="{BB962C8B-B14F-4D97-AF65-F5344CB8AC3E}">
        <p14:creationId xmlns:p14="http://schemas.microsoft.com/office/powerpoint/2010/main" val="808604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04F98-0072-438C-ADC9-BE4BC5C5D2C3}"/>
              </a:ext>
            </a:extLst>
          </p:cNvPr>
          <p:cNvSpPr>
            <a:spLocks noGrp="1"/>
          </p:cNvSpPr>
          <p:nvPr>
            <p:ph type="title"/>
          </p:nvPr>
        </p:nvSpPr>
        <p:spPr/>
        <p:txBody>
          <a:bodyPr/>
          <a:lstStyle/>
          <a:p>
            <a:endParaRPr lang="ar-KW"/>
          </a:p>
        </p:txBody>
      </p:sp>
      <p:pic>
        <p:nvPicPr>
          <p:cNvPr id="5" name="Content Placeholder 4">
            <a:extLst>
              <a:ext uri="{FF2B5EF4-FFF2-40B4-BE49-F238E27FC236}">
                <a16:creationId xmlns:a16="http://schemas.microsoft.com/office/drawing/2014/main" id="{5E900DC3-2923-4B45-89D2-200BF65B4C59}"/>
              </a:ext>
            </a:extLst>
          </p:cNvPr>
          <p:cNvPicPr>
            <a:picLocks noGrp="1" noChangeAspect="1"/>
          </p:cNvPicPr>
          <p:nvPr>
            <p:ph idx="1"/>
          </p:nvPr>
        </p:nvPicPr>
        <p:blipFill>
          <a:blip r:embed="rId2"/>
          <a:stretch>
            <a:fillRect/>
          </a:stretch>
        </p:blipFill>
        <p:spPr>
          <a:xfrm>
            <a:off x="1371600" y="228600"/>
            <a:ext cx="9601200" cy="6400800"/>
          </a:xfrm>
        </p:spPr>
      </p:pic>
    </p:spTree>
    <p:extLst>
      <p:ext uri="{BB962C8B-B14F-4D97-AF65-F5344CB8AC3E}">
        <p14:creationId xmlns:p14="http://schemas.microsoft.com/office/powerpoint/2010/main" val="1375121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BC10D-9A59-4FD4-A83F-295AD8E27558}"/>
              </a:ext>
            </a:extLst>
          </p:cNvPr>
          <p:cNvSpPr>
            <a:spLocks noGrp="1"/>
          </p:cNvSpPr>
          <p:nvPr>
            <p:ph type="title"/>
          </p:nvPr>
        </p:nvSpPr>
        <p:spPr/>
        <p:txBody>
          <a:bodyPr/>
          <a:lstStyle/>
          <a:p>
            <a:endParaRPr lang="ar-KW"/>
          </a:p>
        </p:txBody>
      </p:sp>
      <p:pic>
        <p:nvPicPr>
          <p:cNvPr id="5" name="Content Placeholder 4">
            <a:extLst>
              <a:ext uri="{FF2B5EF4-FFF2-40B4-BE49-F238E27FC236}">
                <a16:creationId xmlns:a16="http://schemas.microsoft.com/office/drawing/2014/main" id="{D50C2A93-3A6D-48D4-8936-24259F036C4B}"/>
              </a:ext>
            </a:extLst>
          </p:cNvPr>
          <p:cNvPicPr>
            <a:picLocks noGrp="1" noChangeAspect="1"/>
          </p:cNvPicPr>
          <p:nvPr>
            <p:ph idx="1"/>
          </p:nvPr>
        </p:nvPicPr>
        <p:blipFill>
          <a:blip r:embed="rId2"/>
          <a:stretch>
            <a:fillRect/>
          </a:stretch>
        </p:blipFill>
        <p:spPr>
          <a:xfrm>
            <a:off x="1371600" y="358914"/>
            <a:ext cx="9601200" cy="6400800"/>
          </a:xfrm>
        </p:spPr>
      </p:pic>
    </p:spTree>
    <p:extLst>
      <p:ext uri="{BB962C8B-B14F-4D97-AF65-F5344CB8AC3E}">
        <p14:creationId xmlns:p14="http://schemas.microsoft.com/office/powerpoint/2010/main" val="22228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AD202-B19B-457B-8D54-59BE7EB2421E}"/>
              </a:ext>
            </a:extLst>
          </p:cNvPr>
          <p:cNvSpPr>
            <a:spLocks noGrp="1"/>
          </p:cNvSpPr>
          <p:nvPr>
            <p:ph type="title"/>
          </p:nvPr>
        </p:nvSpPr>
        <p:spPr>
          <a:xfrm>
            <a:off x="4803913" y="632791"/>
            <a:ext cx="2584174" cy="1485900"/>
          </a:xfrm>
        </p:spPr>
        <p:txBody>
          <a:bodyPr/>
          <a:lstStyle/>
          <a:p>
            <a:endParaRPr lang="ar-KW" dirty="0"/>
          </a:p>
        </p:txBody>
      </p:sp>
      <p:pic>
        <p:nvPicPr>
          <p:cNvPr id="5" name="Content Placeholder 4">
            <a:extLst>
              <a:ext uri="{FF2B5EF4-FFF2-40B4-BE49-F238E27FC236}">
                <a16:creationId xmlns:a16="http://schemas.microsoft.com/office/drawing/2014/main" id="{7C4DB3A3-5A6C-449B-BC8B-60CFE0B8A42F}"/>
              </a:ext>
            </a:extLst>
          </p:cNvPr>
          <p:cNvPicPr>
            <a:picLocks noGrp="1" noChangeAspect="1"/>
          </p:cNvPicPr>
          <p:nvPr>
            <p:ph idx="1"/>
          </p:nvPr>
        </p:nvPicPr>
        <p:blipFill>
          <a:blip r:embed="rId2"/>
          <a:stretch>
            <a:fillRect/>
          </a:stretch>
        </p:blipFill>
        <p:spPr>
          <a:xfrm>
            <a:off x="3993320" y="0"/>
            <a:ext cx="4499113" cy="6748670"/>
          </a:xfrm>
        </p:spPr>
      </p:pic>
    </p:spTree>
    <p:extLst>
      <p:ext uri="{BB962C8B-B14F-4D97-AF65-F5344CB8AC3E}">
        <p14:creationId xmlns:p14="http://schemas.microsoft.com/office/powerpoint/2010/main" val="2348870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80751-B962-4D09-B0EC-CDF0FDAA143D}"/>
              </a:ext>
            </a:extLst>
          </p:cNvPr>
          <p:cNvSpPr>
            <a:spLocks noGrp="1"/>
          </p:cNvSpPr>
          <p:nvPr>
            <p:ph type="title"/>
          </p:nvPr>
        </p:nvSpPr>
        <p:spPr/>
        <p:txBody>
          <a:bodyPr/>
          <a:lstStyle/>
          <a:p>
            <a:endParaRPr lang="ar-KW"/>
          </a:p>
        </p:txBody>
      </p:sp>
      <p:pic>
        <p:nvPicPr>
          <p:cNvPr id="5" name="Content Placeholder 4">
            <a:extLst>
              <a:ext uri="{FF2B5EF4-FFF2-40B4-BE49-F238E27FC236}">
                <a16:creationId xmlns:a16="http://schemas.microsoft.com/office/drawing/2014/main" id="{22D264FF-7328-47EA-826D-2E0C44891F82}"/>
              </a:ext>
            </a:extLst>
          </p:cNvPr>
          <p:cNvPicPr>
            <a:picLocks noGrp="1" noChangeAspect="1"/>
          </p:cNvPicPr>
          <p:nvPr>
            <p:ph idx="1"/>
          </p:nvPr>
        </p:nvPicPr>
        <p:blipFill>
          <a:blip r:embed="rId2"/>
          <a:stretch>
            <a:fillRect/>
          </a:stretch>
        </p:blipFill>
        <p:spPr>
          <a:xfrm>
            <a:off x="1371600" y="168965"/>
            <a:ext cx="10033553" cy="6689035"/>
          </a:xfrm>
        </p:spPr>
      </p:pic>
    </p:spTree>
    <p:extLst>
      <p:ext uri="{BB962C8B-B14F-4D97-AF65-F5344CB8AC3E}">
        <p14:creationId xmlns:p14="http://schemas.microsoft.com/office/powerpoint/2010/main" val="3592663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6DB48-68CC-4C5C-8D68-D7B49EFAE616}"/>
              </a:ext>
            </a:extLst>
          </p:cNvPr>
          <p:cNvSpPr>
            <a:spLocks noGrp="1"/>
          </p:cNvSpPr>
          <p:nvPr>
            <p:ph type="title"/>
          </p:nvPr>
        </p:nvSpPr>
        <p:spPr/>
        <p:txBody>
          <a:bodyPr/>
          <a:lstStyle/>
          <a:p>
            <a:endParaRPr lang="ar-KW"/>
          </a:p>
        </p:txBody>
      </p:sp>
      <p:pic>
        <p:nvPicPr>
          <p:cNvPr id="5" name="Content Placeholder 4">
            <a:extLst>
              <a:ext uri="{FF2B5EF4-FFF2-40B4-BE49-F238E27FC236}">
                <a16:creationId xmlns:a16="http://schemas.microsoft.com/office/drawing/2014/main" id="{46861A1D-7436-4B15-9FD3-80459DFF46BB}"/>
              </a:ext>
            </a:extLst>
          </p:cNvPr>
          <p:cNvPicPr>
            <a:picLocks noGrp="1" noChangeAspect="1"/>
          </p:cNvPicPr>
          <p:nvPr>
            <p:ph idx="1"/>
          </p:nvPr>
        </p:nvPicPr>
        <p:blipFill>
          <a:blip r:embed="rId2"/>
          <a:stretch>
            <a:fillRect/>
          </a:stretch>
        </p:blipFill>
        <p:spPr>
          <a:xfrm>
            <a:off x="1030770" y="104361"/>
            <a:ext cx="10130459" cy="6753639"/>
          </a:xfrm>
        </p:spPr>
      </p:pic>
    </p:spTree>
    <p:extLst>
      <p:ext uri="{BB962C8B-B14F-4D97-AF65-F5344CB8AC3E}">
        <p14:creationId xmlns:p14="http://schemas.microsoft.com/office/powerpoint/2010/main" val="2034148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62806-5829-4C6C-AD29-5817560561B3}"/>
              </a:ext>
            </a:extLst>
          </p:cNvPr>
          <p:cNvSpPr>
            <a:spLocks noGrp="1"/>
          </p:cNvSpPr>
          <p:nvPr>
            <p:ph type="title"/>
          </p:nvPr>
        </p:nvSpPr>
        <p:spPr>
          <a:xfrm>
            <a:off x="1371600" y="685800"/>
            <a:ext cx="9601200" cy="965579"/>
          </a:xfrm>
        </p:spPr>
        <p:txBody>
          <a:bodyPr>
            <a:normAutofit/>
          </a:bodyPr>
          <a:lstStyle/>
          <a:p>
            <a:r>
              <a:rPr lang="en-US" sz="3600" dirty="0"/>
              <a:t>Languages, work environment and tools used</a:t>
            </a:r>
            <a:endParaRPr lang="ar-KW" sz="3600" dirty="0"/>
          </a:p>
        </p:txBody>
      </p:sp>
      <p:pic>
        <p:nvPicPr>
          <p:cNvPr id="5" name="Content Placeholder 4">
            <a:extLst>
              <a:ext uri="{FF2B5EF4-FFF2-40B4-BE49-F238E27FC236}">
                <a16:creationId xmlns:a16="http://schemas.microsoft.com/office/drawing/2014/main" id="{243DF889-5C26-4D08-8920-5F3446436725}"/>
              </a:ext>
            </a:extLst>
          </p:cNvPr>
          <p:cNvPicPr>
            <a:picLocks noGrp="1" noChangeAspect="1"/>
          </p:cNvPicPr>
          <p:nvPr>
            <p:ph idx="1"/>
          </p:nvPr>
        </p:nvPicPr>
        <p:blipFill>
          <a:blip r:embed="rId2"/>
          <a:stretch>
            <a:fillRect/>
          </a:stretch>
        </p:blipFill>
        <p:spPr>
          <a:xfrm>
            <a:off x="1894897" y="1651379"/>
            <a:ext cx="8402206" cy="5111342"/>
          </a:xfrm>
        </p:spPr>
      </p:pic>
    </p:spTree>
    <p:extLst>
      <p:ext uri="{BB962C8B-B14F-4D97-AF65-F5344CB8AC3E}">
        <p14:creationId xmlns:p14="http://schemas.microsoft.com/office/powerpoint/2010/main" val="4131129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82EAE-6E16-43D2-B54A-972A22DE0953}"/>
              </a:ext>
            </a:extLst>
          </p:cNvPr>
          <p:cNvSpPr>
            <a:spLocks noGrp="1"/>
          </p:cNvSpPr>
          <p:nvPr>
            <p:ph type="title"/>
          </p:nvPr>
        </p:nvSpPr>
        <p:spPr/>
        <p:txBody>
          <a:bodyPr/>
          <a:lstStyle/>
          <a:p>
            <a:endParaRPr lang="ar-KW"/>
          </a:p>
        </p:txBody>
      </p:sp>
      <p:pic>
        <p:nvPicPr>
          <p:cNvPr id="5" name="Content Placeholder 4">
            <a:extLst>
              <a:ext uri="{FF2B5EF4-FFF2-40B4-BE49-F238E27FC236}">
                <a16:creationId xmlns:a16="http://schemas.microsoft.com/office/drawing/2014/main" id="{17E534FD-5A69-4550-B777-6CD465F7D84D}"/>
              </a:ext>
            </a:extLst>
          </p:cNvPr>
          <p:cNvPicPr>
            <a:picLocks noGrp="1" noChangeAspect="1"/>
          </p:cNvPicPr>
          <p:nvPr>
            <p:ph idx="1"/>
          </p:nvPr>
        </p:nvPicPr>
        <p:blipFill>
          <a:blip r:embed="rId2"/>
          <a:stretch>
            <a:fillRect/>
          </a:stretch>
        </p:blipFill>
        <p:spPr>
          <a:xfrm>
            <a:off x="1219200" y="272715"/>
            <a:ext cx="10635916" cy="6288505"/>
          </a:xfrm>
        </p:spPr>
      </p:pic>
    </p:spTree>
    <p:extLst>
      <p:ext uri="{BB962C8B-B14F-4D97-AF65-F5344CB8AC3E}">
        <p14:creationId xmlns:p14="http://schemas.microsoft.com/office/powerpoint/2010/main" val="201596260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{CEB24ABC-951E-4DEB-A39D-A24149B98DA2}TFc3084226-2d0c-440f-9f46-6b48c7a7f670e6ba4a85-fc4a2881d6b3</Template>
  <TotalTime>1567</TotalTime>
  <Words>435</Words>
  <Application>Microsoft Office PowerPoint</Application>
  <PresentationFormat>Widescreen</PresentationFormat>
  <Paragraphs>11</Paragraphs>
  <Slides>15</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Franklin Gothic Book</vt:lpstr>
      <vt:lpstr>Crop</vt:lpstr>
      <vt:lpstr>Pharmacy Management System</vt:lpstr>
      <vt:lpstr>Importance of the Project</vt:lpstr>
      <vt:lpstr>MAIN OBJECTIVE OF PROJECT</vt:lpstr>
      <vt:lpstr>Problems Solved by the Project</vt:lpstr>
      <vt:lpstr>METHODOLOGY Used in the project </vt:lpstr>
      <vt:lpstr>Research Papers</vt:lpstr>
      <vt:lpstr>GANTT CHART</vt:lpstr>
      <vt:lpstr>PowerPoint Presentation</vt:lpstr>
      <vt:lpstr>PowerPoint Presentation</vt:lpstr>
      <vt:lpstr>PowerPoint Presentation</vt:lpstr>
      <vt:lpstr>PowerPoint Presentation</vt:lpstr>
      <vt:lpstr>PowerPoint Presentation</vt:lpstr>
      <vt:lpstr>PowerPoint Presentation</vt:lpstr>
      <vt:lpstr>Languages, work environment and tools used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Management System</dc:title>
  <dc:creator>سدرة نادر محمد هاشم</dc:creator>
  <cp:lastModifiedBy>سدرة نادر محمد هاشم</cp:lastModifiedBy>
  <cp:revision>10</cp:revision>
  <dcterms:created xsi:type="dcterms:W3CDTF">2026-10-26T16:58:23Z</dcterms:created>
  <dcterms:modified xsi:type="dcterms:W3CDTF">2026-10-29T07:02:09Z</dcterms:modified>
</cp:coreProperties>
</file>